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08" d="100"/>
          <a:sy n="108" d="100"/>
        </p:scale>
        <p:origin x="4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21838" b="21838"/>
          <a:stretch>
            <a:fillRect/>
          </a:stretch>
        </p:blipFill>
        <p:spPr>
          <a:xfrm>
            <a:off x="6572250" y="0"/>
            <a:ext cx="5619750" cy="68580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890E3BE-AA66-48CA-A1C8-EBD80AFAEE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667500" cy="6858000"/>
          </a:xfrm>
          <a:prstGeom prst="roundRect">
            <a:avLst>
              <a:gd name="adj" fmla="val 0"/>
            </a:avLst>
          </a:prstGeom>
          <a:solidFill>
            <a:srgbClr val="FFF7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048F0D-CB71-4B06-A7E9-0D4A6F2279E2}"/>
              </a:ext>
            </a:extLst>
          </p:cNvPr>
          <p:cNvSpPr>
            <a:spLocks noGrp="1"/>
          </p:cNvSpPr>
          <p:nvPr/>
        </p:nvSpPr>
        <p:spPr>
          <a:xfrm>
            <a:off x="666750" y="8953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61E73"/>
                </a:solidFill>
              </a:defRPr>
            </a:pPr>
            <a:r>
              <a:rPr sz="1200" b="1">
                <a:solidFill>
                  <a:srgbClr val="E61E73"/>
                </a:solidFill>
              </a:rPr>
              <a:t>REMODELING PROPOSAL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F56F84-F573-466D-A8CE-FC59B067C65C}"/>
              </a:ext>
            </a:extLst>
          </p:cNvPr>
          <p:cNvSpPr>
            <a:spLocks noGrp="1"/>
          </p:cNvSpPr>
          <p:nvPr/>
        </p:nvSpPr>
        <p:spPr>
          <a:xfrm>
            <a:off x="666750" y="1543050"/>
            <a:ext cx="53340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33242D"/>
                </a:solidFill>
              </a:defRPr>
            </a:pPr>
            <a:r>
              <a:rPr sz="3750" b="1">
                <a:solidFill>
                  <a:srgbClr val="33242D"/>
                </a:solidFill>
              </a:rPr>
              <a:t>인생네컷 매장</a:t>
            </a:r>
          </a:p>
          <a:p>
            <a:pPr algn="l">
              <a:defRPr sz="3750" b="1">
                <a:solidFill>
                  <a:srgbClr val="33242D"/>
                </a:solidFill>
              </a:defRPr>
            </a:pPr>
            <a:r>
              <a:rPr sz="3750" b="1">
                <a:solidFill>
                  <a:srgbClr val="33242D"/>
                </a:solidFill>
              </a:rPr>
              <a:t>리모델링 제안서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C74264-7ED6-4D35-B2C4-B24832D25F3F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4953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74656D"/>
                </a:solidFill>
              </a:defRPr>
            </a:pPr>
            <a:r>
              <a:rPr sz="1800" b="0">
                <a:solidFill>
                  <a:srgbClr val="74656D"/>
                </a:solidFill>
              </a:rPr>
              <a:t>대기 · 스타일링 · 프롭 선택 경험을</a:t>
            </a:r>
          </a:p>
          <a:p>
            <a:pPr algn="l">
              <a:defRPr sz="1800" b="0">
                <a:solidFill>
                  <a:srgbClr val="74656D"/>
                </a:solidFill>
              </a:defRPr>
            </a:pPr>
            <a:r>
              <a:rPr sz="1800" b="0">
                <a:solidFill>
                  <a:srgbClr val="74656D"/>
                </a:solidFill>
              </a:rPr>
              <a:t>한 번에 개선하는 공간 재구성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76CE6B8-6944-4580-B6DC-48092391A1DC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4762500" cy="933450"/>
          </a:xfrm>
          <a:prstGeom prst="roundRect">
            <a:avLst>
              <a:gd name="adj" fmla="val 22449"/>
            </a:avLst>
          </a:prstGeom>
          <a:solidFill>
            <a:srgbClr val="FFFFFF"/>
          </a:solidFill>
          <a:ln w="9525">
            <a:solidFill>
              <a:srgbClr val="E8D8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BE8843-656C-4237-B6BF-B5E1373630E7}"/>
              </a:ext>
            </a:extLst>
          </p:cNvPr>
          <p:cNvSpPr>
            <a:spLocks noGrp="1"/>
          </p:cNvSpPr>
          <p:nvPr/>
        </p:nvSpPr>
        <p:spPr>
          <a:xfrm>
            <a:off x="914400" y="48768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E61E73"/>
                </a:solidFill>
              </a:defRPr>
            </a:pPr>
            <a:r>
              <a:rPr sz="1275" b="1">
                <a:solidFill>
                  <a:srgbClr val="E61E73"/>
                </a:solidFill>
              </a:rPr>
              <a:t>핵심 제안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FEFA4F-2294-4E8F-82E1-715EBDE73A4E}"/>
              </a:ext>
            </a:extLst>
          </p:cNvPr>
          <p:cNvSpPr>
            <a:spLocks noGrp="1"/>
          </p:cNvSpPr>
          <p:nvPr/>
        </p:nvSpPr>
        <p:spPr>
          <a:xfrm>
            <a:off x="914400" y="520065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3242D"/>
                </a:solidFill>
              </a:defRPr>
            </a:pPr>
            <a:r>
              <a:rPr sz="1575" b="1">
                <a:solidFill>
                  <a:srgbClr val="33242D"/>
                </a:solidFill>
              </a:rPr>
              <a:t>더 밝게  ·  더 편하게  ·  더 다양하게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37D2E-F877-4C8F-9BB0-BBD60154F0E8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74656D"/>
                </a:solidFill>
              </a:defRPr>
            </a:pPr>
            <a:r>
              <a:rPr sz="1200" b="0">
                <a:solidFill>
                  <a:srgbClr val="74656D"/>
                </a:solidFill>
              </a:rPr>
              <a:t>2026.07</a:t>
            </a:r>
          </a:p>
        </p:txBody>
      </p:sp>
    </p:spTree>
    <p:extLst>
      <p:ext uri="{BB962C8B-B14F-4D97-AF65-F5344CB8AC3E}">
        <p14:creationId xmlns:p14="http://schemas.microsoft.com/office/powerpoint/2010/main" val="1158224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9CA80C-75C9-4D18-AE19-4784719E420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61E73"/>
                </a:solidFill>
              </a:defRPr>
            </a:pPr>
            <a:r>
              <a:rPr sz="1200" b="1">
                <a:solidFill>
                  <a:srgbClr val="E61E73"/>
                </a:solidFill>
              </a:rPr>
              <a:t>ZONE 01 · WAITING &amp; PREP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DC818B-1062-4969-B306-CABA92C883E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34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33242D"/>
                </a:solidFill>
              </a:defRPr>
            </a:pPr>
            <a:r>
              <a:rPr sz="2625" b="1" dirty="0" err="1">
                <a:solidFill>
                  <a:srgbClr val="33242D"/>
                </a:solidFill>
              </a:rPr>
              <a:t>비어</a:t>
            </a:r>
            <a:r>
              <a:rPr sz="2625" b="1" dirty="0">
                <a:solidFill>
                  <a:srgbClr val="33242D"/>
                </a:solidFill>
              </a:rPr>
              <a:t> </a:t>
            </a:r>
            <a:r>
              <a:rPr sz="2625" b="1" dirty="0" err="1">
                <a:solidFill>
                  <a:srgbClr val="33242D"/>
                </a:solidFill>
              </a:rPr>
              <a:t>있는</a:t>
            </a:r>
            <a:r>
              <a:rPr sz="2625" b="1" dirty="0">
                <a:solidFill>
                  <a:srgbClr val="33242D"/>
                </a:solidFill>
              </a:rPr>
              <a:t> </a:t>
            </a:r>
            <a:r>
              <a:rPr sz="2625" b="1" dirty="0" err="1">
                <a:solidFill>
                  <a:srgbClr val="33242D"/>
                </a:solidFill>
              </a:rPr>
              <a:t>대기공간을</a:t>
            </a:r>
            <a:r>
              <a:rPr sz="2625" b="1" dirty="0">
                <a:solidFill>
                  <a:srgbClr val="33242D"/>
                </a:solidFill>
              </a:rPr>
              <a:t> ‘</a:t>
            </a:r>
            <a:r>
              <a:rPr sz="2625" b="1" dirty="0" err="1">
                <a:solidFill>
                  <a:srgbClr val="33242D"/>
                </a:solidFill>
              </a:rPr>
              <a:t>앉아서</a:t>
            </a:r>
            <a:r>
              <a:rPr sz="2625" b="1" dirty="0">
                <a:solidFill>
                  <a:srgbClr val="33242D"/>
                </a:solidFill>
              </a:rPr>
              <a:t> </a:t>
            </a:r>
            <a:r>
              <a:rPr sz="2625" b="1" dirty="0" err="1">
                <a:solidFill>
                  <a:srgbClr val="33242D"/>
                </a:solidFill>
              </a:rPr>
              <a:t>준비하는</a:t>
            </a:r>
            <a:r>
              <a:rPr sz="2625" b="1" dirty="0">
                <a:solidFill>
                  <a:srgbClr val="33242D"/>
                </a:solidFill>
              </a:rPr>
              <a:t> </a:t>
            </a:r>
            <a:r>
              <a:rPr sz="2625" b="1" dirty="0" err="1">
                <a:solidFill>
                  <a:srgbClr val="33242D"/>
                </a:solidFill>
              </a:rPr>
              <a:t>공간’으로</a:t>
            </a:r>
            <a:r>
              <a:rPr sz="2625" b="1" dirty="0">
                <a:solidFill>
                  <a:srgbClr val="33242D"/>
                </a:solidFill>
              </a:rPr>
              <a:t> </a:t>
            </a:r>
            <a:r>
              <a:rPr sz="2625" b="1" dirty="0" err="1">
                <a:solidFill>
                  <a:srgbClr val="33242D"/>
                </a:solidFill>
              </a:rPr>
              <a:t>바꿉니다</a:t>
            </a:r>
            <a:endParaRPr sz="2625" b="1" dirty="0">
              <a:solidFill>
                <a:srgbClr val="33242D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rcRect l="6947" r="6947"/>
          <a:stretch>
            <a:fillRect/>
          </a:stretch>
        </p:blipFill>
        <p:spPr>
          <a:xfrm rot="5400000">
            <a:off x="1172697" y="1906123"/>
            <a:ext cx="3627003" cy="2371502"/>
          </a:xfrm>
          <a:prstGeom prst="roundRect">
            <a:avLst>
              <a:gd name="adj" fmla="val 5882"/>
            </a:avLst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2B366A2-262D-4D5B-9D76-F82C41B3A1A3}"/>
              </a:ext>
            </a:extLst>
          </p:cNvPr>
          <p:cNvSpPr>
            <a:spLocks noGrp="1"/>
          </p:cNvSpPr>
          <p:nvPr/>
        </p:nvSpPr>
        <p:spPr>
          <a:xfrm>
            <a:off x="609600" y="5269830"/>
            <a:ext cx="10972800" cy="1066800"/>
          </a:xfrm>
          <a:prstGeom prst="roundRect">
            <a:avLst>
              <a:gd name="adj" fmla="val 17857"/>
            </a:avLst>
          </a:prstGeom>
          <a:solidFill>
            <a:srgbClr val="FBE8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B834BA-5305-4F04-B910-9E0D09D1ACF1}"/>
              </a:ext>
            </a:extLst>
          </p:cNvPr>
          <p:cNvSpPr>
            <a:spLocks noGrp="1"/>
          </p:cNvSpPr>
          <p:nvPr/>
        </p:nvSpPr>
        <p:spPr>
          <a:xfrm>
            <a:off x="838200" y="547938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E61E73"/>
                </a:solidFill>
              </a:defRPr>
            </a:pPr>
            <a:r>
              <a:rPr sz="1275" b="1">
                <a:solidFill>
                  <a:srgbClr val="E61E73"/>
                </a:solidFill>
              </a:rPr>
              <a:t>핵심 변화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555FC6-EB86-4093-8690-35C951B1C25F}"/>
              </a:ext>
            </a:extLst>
          </p:cNvPr>
          <p:cNvSpPr>
            <a:spLocks noGrp="1"/>
          </p:cNvSpPr>
          <p:nvPr/>
        </p:nvSpPr>
        <p:spPr>
          <a:xfrm>
            <a:off x="2133600" y="546033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3242D"/>
                </a:solidFill>
              </a:defRPr>
            </a:pPr>
            <a:r>
              <a:rPr sz="1500" b="1">
                <a:solidFill>
                  <a:srgbClr val="33242D"/>
                </a:solidFill>
              </a:rPr>
              <a:t>ㄱ자형 의자 설치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19AB51-884D-41DC-B125-84ED0F55E1A9}"/>
              </a:ext>
            </a:extLst>
          </p:cNvPr>
          <p:cNvSpPr>
            <a:spLocks noGrp="1"/>
          </p:cNvSpPr>
          <p:nvPr/>
        </p:nvSpPr>
        <p:spPr>
          <a:xfrm>
            <a:off x="4500253" y="5460330"/>
            <a:ext cx="2400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3242D"/>
                </a:solidFill>
              </a:defRPr>
            </a:pPr>
            <a:r>
              <a:rPr lang="ko-KR" altLang="en-US" sz="1500" b="1" dirty="0">
                <a:solidFill>
                  <a:srgbClr val="33242D"/>
                </a:solidFill>
              </a:rPr>
              <a:t>왼쪽 </a:t>
            </a:r>
            <a:r>
              <a:rPr sz="1500" b="1" dirty="0" err="1">
                <a:solidFill>
                  <a:srgbClr val="33242D"/>
                </a:solidFill>
              </a:rPr>
              <a:t>대형</a:t>
            </a:r>
            <a:r>
              <a:rPr sz="1500" b="1" dirty="0">
                <a:solidFill>
                  <a:srgbClr val="33242D"/>
                </a:solidFill>
              </a:rPr>
              <a:t> </a:t>
            </a:r>
            <a:r>
              <a:rPr sz="1500" b="1" dirty="0" err="1">
                <a:solidFill>
                  <a:srgbClr val="33242D"/>
                </a:solidFill>
              </a:rPr>
              <a:t>판거울</a:t>
            </a:r>
            <a:r>
              <a:rPr sz="1500" b="1" dirty="0">
                <a:solidFill>
                  <a:srgbClr val="33242D"/>
                </a:solidFill>
              </a:rPr>
              <a:t> + </a:t>
            </a:r>
            <a:r>
              <a:rPr sz="1500" b="1" dirty="0" err="1">
                <a:solidFill>
                  <a:srgbClr val="33242D"/>
                </a:solidFill>
              </a:rPr>
              <a:t>긴</a:t>
            </a:r>
            <a:r>
              <a:rPr sz="1500" b="1" dirty="0">
                <a:solidFill>
                  <a:srgbClr val="33242D"/>
                </a:solidFill>
              </a:rPr>
              <a:t> </a:t>
            </a:r>
            <a:r>
              <a:rPr sz="1500" b="1" dirty="0" err="1">
                <a:solidFill>
                  <a:srgbClr val="33242D"/>
                </a:solidFill>
              </a:rPr>
              <a:t>선반</a:t>
            </a:r>
            <a:endParaRPr sz="1500" b="1" dirty="0">
              <a:solidFill>
                <a:srgbClr val="33242D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AE1CEC-C2F9-4563-974C-AE40A4F2BFBE}"/>
              </a:ext>
            </a:extLst>
          </p:cNvPr>
          <p:cNvSpPr>
            <a:spLocks noGrp="1"/>
          </p:cNvSpPr>
          <p:nvPr/>
        </p:nvSpPr>
        <p:spPr>
          <a:xfrm>
            <a:off x="7290707" y="546033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3242D"/>
                </a:solidFill>
              </a:defRPr>
            </a:pPr>
            <a:r>
              <a:rPr sz="1500" b="1" dirty="0" err="1">
                <a:solidFill>
                  <a:srgbClr val="33242D"/>
                </a:solidFill>
              </a:rPr>
              <a:t>드라이어·고데기·포토커터</a:t>
            </a:r>
            <a:r>
              <a:rPr sz="1500" b="1" dirty="0">
                <a:solidFill>
                  <a:srgbClr val="33242D"/>
                </a:solidFill>
              </a:rPr>
              <a:t> </a:t>
            </a:r>
            <a:r>
              <a:rPr sz="1500" b="1" dirty="0" err="1">
                <a:solidFill>
                  <a:srgbClr val="33242D"/>
                </a:solidFill>
              </a:rPr>
              <a:t>배치</a:t>
            </a:r>
            <a:endParaRPr sz="1500" b="1" dirty="0">
              <a:solidFill>
                <a:srgbClr val="33242D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2E4C1B-82FD-405B-8896-E2B4BE88D444}"/>
              </a:ext>
            </a:extLst>
          </p:cNvPr>
          <p:cNvSpPr>
            <a:spLocks noGrp="1"/>
          </p:cNvSpPr>
          <p:nvPr/>
        </p:nvSpPr>
        <p:spPr>
          <a:xfrm>
            <a:off x="2133600" y="585085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74656D"/>
                </a:solidFill>
              </a:defRPr>
            </a:pPr>
            <a:r>
              <a:rPr sz="1275" b="0" dirty="0" err="1">
                <a:solidFill>
                  <a:srgbClr val="74656D"/>
                </a:solidFill>
              </a:rPr>
              <a:t>오염에</a:t>
            </a:r>
            <a:r>
              <a:rPr sz="1275" b="0" dirty="0">
                <a:solidFill>
                  <a:srgbClr val="74656D"/>
                </a:solidFill>
              </a:rPr>
              <a:t> </a:t>
            </a:r>
            <a:r>
              <a:rPr sz="1275" b="0" dirty="0" err="1">
                <a:solidFill>
                  <a:srgbClr val="74656D"/>
                </a:solidFill>
              </a:rPr>
              <a:t>강</a:t>
            </a:r>
            <a:r>
              <a:rPr lang="ko-KR" altLang="en-US" sz="1275" b="0" dirty="0">
                <a:solidFill>
                  <a:srgbClr val="74656D"/>
                </a:solidFill>
              </a:rPr>
              <a:t>한 재질 </a:t>
            </a:r>
            <a:r>
              <a:rPr lang="en-US" altLang="ko-KR" sz="1275" b="0" dirty="0">
                <a:solidFill>
                  <a:srgbClr val="74656D"/>
                </a:solidFill>
              </a:rPr>
              <a:t>(</a:t>
            </a:r>
            <a:r>
              <a:rPr lang="ko-KR" altLang="en-US" sz="1275" b="0" dirty="0">
                <a:solidFill>
                  <a:srgbClr val="74656D"/>
                </a:solidFill>
              </a:rPr>
              <a:t>면</a:t>
            </a:r>
            <a:r>
              <a:rPr lang="en-US" altLang="ko-KR" sz="1275" b="0" dirty="0">
                <a:solidFill>
                  <a:srgbClr val="74656D"/>
                </a:solidFill>
              </a:rPr>
              <a:t> X)</a:t>
            </a:r>
            <a:endParaRPr sz="1275" b="0" dirty="0">
              <a:solidFill>
                <a:srgbClr val="74656D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3E710E-F196-4D81-8041-3FC9D45078F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74656D"/>
                </a:solidFill>
              </a:defRPr>
            </a:pPr>
            <a:r>
              <a:rPr sz="1200" b="0">
                <a:solidFill>
                  <a:srgbClr val="74656D"/>
                </a:solidFill>
              </a:rPr>
              <a:t>인생네컷 리모델링 제안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B4778E-7059-4AB5-BEC1-D32FEED63C59}"/>
              </a:ext>
            </a:extLst>
          </p:cNvPr>
          <p:cNvSpPr>
            <a:spLocks noGrp="1"/>
          </p:cNvSpPr>
          <p:nvPr/>
        </p:nvSpPr>
        <p:spPr>
          <a:xfrm>
            <a:off x="10953750" y="6496050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E61E73"/>
                </a:solidFill>
              </a:defRPr>
            </a:pPr>
            <a:r>
              <a:rPr sz="1200" b="1">
                <a:solidFill>
                  <a:srgbClr val="E61E73"/>
                </a:solidFill>
              </a:rPr>
              <a:t>03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A1FBAC5-358B-475B-2020-28D9180BE9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0" y="1219200"/>
            <a:ext cx="1701312" cy="3686175"/>
          </a:xfrm>
          <a:prstGeom prst="roundRect">
            <a:avLst>
              <a:gd name="adj" fmla="val 7663"/>
            </a:avLst>
          </a:prstGeom>
          <a:effectLst>
            <a:softEdge rad="0"/>
          </a:effec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9D7ACEB-86A1-5466-D81C-A0F62F1C89D8}"/>
              </a:ext>
            </a:extLst>
          </p:cNvPr>
          <p:cNvSpPr>
            <a:spLocks noGrp="1"/>
          </p:cNvSpPr>
          <p:nvPr/>
        </p:nvSpPr>
        <p:spPr>
          <a:xfrm>
            <a:off x="7290707" y="580323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3242D"/>
                </a:solidFill>
              </a:defRPr>
            </a:pPr>
            <a:r>
              <a:rPr lang="en-US" altLang="ko-KR" sz="1500" b="1" dirty="0">
                <a:solidFill>
                  <a:srgbClr val="33242D"/>
                </a:solidFill>
              </a:rPr>
              <a:t>+</a:t>
            </a:r>
            <a:r>
              <a:rPr lang="ko-KR" altLang="en-US" sz="1500" b="1" dirty="0">
                <a:solidFill>
                  <a:srgbClr val="33242D"/>
                </a:solidFill>
              </a:rPr>
              <a:t> 밝은 조명 추가</a:t>
            </a:r>
            <a:endParaRPr lang="en-AU" altLang="ko-KR" sz="1500" b="1" dirty="0">
              <a:solidFill>
                <a:srgbClr val="33242D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3BAF539-2474-CF78-F26F-F9F636328E74}"/>
              </a:ext>
            </a:extLst>
          </p:cNvPr>
          <p:cNvSpPr>
            <a:spLocks noGrp="1"/>
          </p:cNvSpPr>
          <p:nvPr/>
        </p:nvSpPr>
        <p:spPr>
          <a:xfrm>
            <a:off x="781050" y="1733550"/>
            <a:ext cx="704850" cy="323850"/>
          </a:xfrm>
          <a:prstGeom prst="roundRect">
            <a:avLst>
              <a:gd name="adj" fmla="val 50000"/>
            </a:avLst>
          </a:prstGeom>
          <a:solidFill>
            <a:srgbClr val="33242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8B9CC3-72E2-62F1-ECC1-F924A62E7889}"/>
              </a:ext>
            </a:extLst>
          </p:cNvPr>
          <p:cNvSpPr>
            <a:spLocks noGrp="1"/>
          </p:cNvSpPr>
          <p:nvPr/>
        </p:nvSpPr>
        <p:spPr>
          <a:xfrm>
            <a:off x="857250" y="178117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E15F264-5957-DD53-7336-34F293DF9FE6}"/>
              </a:ext>
            </a:extLst>
          </p:cNvPr>
          <p:cNvSpPr>
            <a:spLocks noGrp="1"/>
          </p:cNvSpPr>
          <p:nvPr/>
        </p:nvSpPr>
        <p:spPr>
          <a:xfrm>
            <a:off x="6419850" y="1733550"/>
            <a:ext cx="1028700" cy="323850"/>
          </a:xfrm>
          <a:prstGeom prst="roundRect">
            <a:avLst>
              <a:gd name="adj" fmla="val 50000"/>
            </a:avLst>
          </a:prstGeom>
          <a:solidFill>
            <a:srgbClr val="E61E7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F1BF2B-949B-9805-C19A-018054A03E82}"/>
              </a:ext>
            </a:extLst>
          </p:cNvPr>
          <p:cNvSpPr>
            <a:spLocks noGrp="1"/>
          </p:cNvSpPr>
          <p:nvPr/>
        </p:nvSpPr>
        <p:spPr>
          <a:xfrm>
            <a:off x="6496050" y="178117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제안 방향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1D879B3-9114-C3E9-23AA-DEDF1C551D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988" y="1219200"/>
            <a:ext cx="1701312" cy="3686176"/>
          </a:xfrm>
          <a:prstGeom prst="roundRect">
            <a:avLst>
              <a:gd name="adj" fmla="val 8453"/>
            </a:avLst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A70B02A-3C30-326E-09DE-5E9DACEC1BB5}"/>
              </a:ext>
            </a:extLst>
          </p:cNvPr>
          <p:cNvSpPr>
            <a:spLocks noGrp="1"/>
          </p:cNvSpPr>
          <p:nvPr/>
        </p:nvSpPr>
        <p:spPr>
          <a:xfrm>
            <a:off x="9686925" y="4962526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3242D"/>
                </a:solidFill>
              </a:defRPr>
            </a:pPr>
            <a:r>
              <a:rPr lang="ko-KR" altLang="en-US" sz="1500" b="1" dirty="0">
                <a:solidFill>
                  <a:srgbClr val="33242D"/>
                </a:solidFill>
              </a:rPr>
              <a:t>왼쪽 벽면을 이런 느낌으로</a:t>
            </a:r>
            <a:endParaRPr sz="1500" b="1" dirty="0">
              <a:solidFill>
                <a:srgbClr val="33242D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1D2BA8E-B609-38A8-9212-B9F75CF90D95}"/>
              </a:ext>
            </a:extLst>
          </p:cNvPr>
          <p:cNvSpPr/>
          <p:nvPr/>
        </p:nvSpPr>
        <p:spPr>
          <a:xfrm>
            <a:off x="7721682" y="2291938"/>
            <a:ext cx="436666" cy="1137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07C12B5A-3A74-0E50-4D04-93DDB8A4A372}"/>
              </a:ext>
            </a:extLst>
          </p:cNvPr>
          <p:cNvCxnSpPr>
            <a:stCxn id="30" idx="6"/>
            <a:endCxn id="29" idx="1"/>
          </p:cNvCxnSpPr>
          <p:nvPr/>
        </p:nvCxnSpPr>
        <p:spPr>
          <a:xfrm>
            <a:off x="8158348" y="2860469"/>
            <a:ext cx="1528577" cy="2235407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194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F13EC2-92FC-4031-870C-277B453AF50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61E73"/>
                </a:solidFill>
              </a:defRPr>
            </a:pPr>
            <a:r>
              <a:rPr sz="1200" b="1">
                <a:solidFill>
                  <a:srgbClr val="E61E73"/>
                </a:solidFill>
              </a:rPr>
              <a:t>ZONE 02 · PHOTO BOARD &amp; MIRROR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EF4006-82E7-494B-A62C-0BCBA4E348F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34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33242D"/>
                </a:solidFill>
              </a:defRPr>
            </a:pPr>
            <a:r>
              <a:rPr sz="2625" b="1">
                <a:solidFill>
                  <a:srgbClr val="33242D"/>
                </a:solidFill>
              </a:rPr>
              <a:t>포토보드는 살리고, 가장 잘 보이는 자리에 대형 전신거울을 만듭니다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 l="4960" r="4960"/>
          <a:stretch>
            <a:fillRect/>
          </a:stretch>
        </p:blipFill>
        <p:spPr>
          <a:xfrm>
            <a:off x="609600" y="1581150"/>
            <a:ext cx="5334000" cy="3333750"/>
          </a:xfrm>
          <a:prstGeom prst="roundRect">
            <a:avLst>
              <a:gd name="adj" fmla="val 5714"/>
            </a:avLst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rcRect l="8407" r="8407"/>
          <a:stretch>
            <a:fillRect/>
          </a:stretch>
        </p:blipFill>
        <p:spPr>
          <a:xfrm>
            <a:off x="6248400" y="1581150"/>
            <a:ext cx="5334000" cy="3333750"/>
          </a:xfrm>
          <a:prstGeom prst="roundRect">
            <a:avLst>
              <a:gd name="adj" fmla="val 5714"/>
            </a:avLst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CD784C-757B-4B1D-981D-50CB65872AE5}"/>
              </a:ext>
            </a:extLst>
          </p:cNvPr>
          <p:cNvSpPr>
            <a:spLocks noGrp="1"/>
          </p:cNvSpPr>
          <p:nvPr/>
        </p:nvSpPr>
        <p:spPr>
          <a:xfrm>
            <a:off x="781050" y="1733550"/>
            <a:ext cx="704850" cy="323850"/>
          </a:xfrm>
          <a:prstGeom prst="roundRect">
            <a:avLst>
              <a:gd name="adj" fmla="val 50000"/>
            </a:avLst>
          </a:prstGeom>
          <a:solidFill>
            <a:srgbClr val="33242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BC5552-1A1A-4C05-A195-71F0E6F76B18}"/>
              </a:ext>
            </a:extLst>
          </p:cNvPr>
          <p:cNvSpPr>
            <a:spLocks noGrp="1"/>
          </p:cNvSpPr>
          <p:nvPr/>
        </p:nvSpPr>
        <p:spPr>
          <a:xfrm>
            <a:off x="857250" y="178117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637D363-AF2A-49E4-94E4-785490EE6CD1}"/>
              </a:ext>
            </a:extLst>
          </p:cNvPr>
          <p:cNvSpPr>
            <a:spLocks noGrp="1"/>
          </p:cNvSpPr>
          <p:nvPr/>
        </p:nvSpPr>
        <p:spPr>
          <a:xfrm>
            <a:off x="6419850" y="1733550"/>
            <a:ext cx="1028700" cy="323850"/>
          </a:xfrm>
          <a:prstGeom prst="roundRect">
            <a:avLst>
              <a:gd name="adj" fmla="val 50000"/>
            </a:avLst>
          </a:prstGeom>
          <a:solidFill>
            <a:srgbClr val="E61E7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6BAB30-DB55-4E75-B39F-F6EA29A3BCA5}"/>
              </a:ext>
            </a:extLst>
          </p:cNvPr>
          <p:cNvSpPr>
            <a:spLocks noGrp="1"/>
          </p:cNvSpPr>
          <p:nvPr/>
        </p:nvSpPr>
        <p:spPr>
          <a:xfrm>
            <a:off x="6496050" y="178117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제안 방향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9FB56E-69CD-4E9B-8FC2-30E0AB1A9CC8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09728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6D9CA2-A968-4807-A5AE-48BE71D14441}"/>
              </a:ext>
            </a:extLst>
          </p:cNvPr>
          <p:cNvSpPr>
            <a:spLocks noGrp="1"/>
          </p:cNvSpPr>
          <p:nvPr/>
        </p:nvSpPr>
        <p:spPr>
          <a:xfrm>
            <a:off x="857250" y="534352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E61E73"/>
                </a:solidFill>
              </a:defRPr>
            </a:pPr>
            <a:r>
              <a:rPr sz="1275" b="1">
                <a:solidFill>
                  <a:srgbClr val="E61E73"/>
                </a:solidFill>
              </a:rPr>
              <a:t>이동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524127-B15A-4DF9-9545-7FB00FA57C1E}"/>
              </a:ext>
            </a:extLst>
          </p:cNvPr>
          <p:cNvSpPr>
            <a:spLocks noGrp="1"/>
          </p:cNvSpPr>
          <p:nvPr/>
        </p:nvSpPr>
        <p:spPr>
          <a:xfrm>
            <a:off x="1428750" y="53149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3242D"/>
                </a:solidFill>
              </a:defRPr>
            </a:pPr>
            <a:r>
              <a:rPr sz="1575" b="1">
                <a:solidFill>
                  <a:srgbClr val="33242D"/>
                </a:solidFill>
              </a:rPr>
              <a:t>오른쪽 포토보드 → 방 사이 벽면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6BDE3E-E8DC-4B68-AFC4-91B7BA255C1B}"/>
              </a:ext>
            </a:extLst>
          </p:cNvPr>
          <p:cNvSpPr>
            <a:spLocks noGrp="1"/>
          </p:cNvSpPr>
          <p:nvPr/>
        </p:nvSpPr>
        <p:spPr>
          <a:xfrm>
            <a:off x="6496050" y="53721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E61E73"/>
                </a:solidFill>
              </a:defRPr>
            </a:pPr>
            <a:r>
              <a:rPr sz="1275" b="1">
                <a:solidFill>
                  <a:srgbClr val="E61E73"/>
                </a:solidFill>
              </a:rPr>
              <a:t>신설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B93196-5677-4C93-9397-0DA1E5D46D54}"/>
              </a:ext>
            </a:extLst>
          </p:cNvPr>
          <p:cNvSpPr>
            <a:spLocks noGrp="1"/>
          </p:cNvSpPr>
          <p:nvPr/>
        </p:nvSpPr>
        <p:spPr>
          <a:xfrm>
            <a:off x="7067550" y="534352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3242D"/>
                </a:solidFill>
              </a:defRPr>
            </a:pPr>
            <a:r>
              <a:rPr sz="1575" b="1">
                <a:solidFill>
                  <a:srgbClr val="33242D"/>
                </a:solidFill>
              </a:rPr>
              <a:t>기존 포토보드 자리 → 대형 벽거울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B2B402-DBC9-49A0-9830-5181B50D016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74656D"/>
                </a:solidFill>
              </a:defRPr>
            </a:pPr>
            <a:r>
              <a:rPr sz="1200" b="0">
                <a:solidFill>
                  <a:srgbClr val="74656D"/>
                </a:solidFill>
              </a:rPr>
              <a:t>인생네컷 리모델링 제안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3D9399-880F-48FD-9F09-9429EEF646BE}"/>
              </a:ext>
            </a:extLst>
          </p:cNvPr>
          <p:cNvSpPr>
            <a:spLocks noGrp="1"/>
          </p:cNvSpPr>
          <p:nvPr/>
        </p:nvSpPr>
        <p:spPr>
          <a:xfrm>
            <a:off x="10953750" y="6496050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E61E73"/>
                </a:solidFill>
              </a:defRPr>
            </a:pPr>
            <a:r>
              <a:rPr sz="1200" b="1">
                <a:solidFill>
                  <a:srgbClr val="E61E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100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FABE1DD3-37DE-2E4F-0517-ACF56F48DD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07" r="8407"/>
          <a:stretch>
            <a:fillRect/>
          </a:stretch>
        </p:blipFill>
        <p:spPr>
          <a:xfrm>
            <a:off x="6248400" y="1581150"/>
            <a:ext cx="5162550" cy="3226594"/>
          </a:xfrm>
          <a:prstGeom prst="roundRect">
            <a:avLst>
              <a:gd name="adj" fmla="val 5714"/>
            </a:avLst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DF8441B-B2BD-4FCD-A844-604EEDD9B3B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61E73"/>
                </a:solidFill>
              </a:defRPr>
            </a:pPr>
            <a:r>
              <a:rPr sz="1200" b="1">
                <a:solidFill>
                  <a:srgbClr val="E61E73"/>
                </a:solidFill>
              </a:rPr>
              <a:t>ZONE 03 · PROP SELECTION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B5D1D4-59CD-466E-AA98-87718705A48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34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33242D"/>
                </a:solidFill>
              </a:defRPr>
            </a:pPr>
            <a:r>
              <a:rPr sz="2625" b="1">
                <a:solidFill>
                  <a:srgbClr val="33242D"/>
                </a:solidFill>
              </a:rPr>
              <a:t>드라이어 테이블 일부를 프롭 선반으로 바꿔 선택 폭을 넓힙니다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rcRect l="6947" r="6947"/>
          <a:stretch>
            <a:fillRect/>
          </a:stretch>
        </p:blipFill>
        <p:spPr>
          <a:xfrm>
            <a:off x="609600" y="1562100"/>
            <a:ext cx="4953000" cy="3238500"/>
          </a:xfrm>
          <a:prstGeom prst="roundRect">
            <a:avLst>
              <a:gd name="adj" fmla="val 5882"/>
            </a:avLst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D90E06-3341-4C33-B0A7-AA34C56F81A4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704850" cy="323850"/>
          </a:xfrm>
          <a:prstGeom prst="roundRect">
            <a:avLst>
              <a:gd name="adj" fmla="val 50000"/>
            </a:avLst>
          </a:prstGeom>
          <a:solidFill>
            <a:srgbClr val="33242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BC86F3-B7EB-44F3-B36C-25A2AEA75643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140B22-4CAE-4CEB-A18D-7CD0557C787B}"/>
              </a:ext>
            </a:extLst>
          </p:cNvPr>
          <p:cNvSpPr>
            <a:spLocks noGrp="1"/>
          </p:cNvSpPr>
          <p:nvPr/>
        </p:nvSpPr>
        <p:spPr>
          <a:xfrm>
            <a:off x="609600" y="5200655"/>
            <a:ext cx="7067550" cy="1047750"/>
          </a:xfrm>
          <a:prstGeom prst="roundRect">
            <a:avLst>
              <a:gd name="adj" fmla="val 18182"/>
            </a:avLst>
          </a:prstGeom>
          <a:solidFill>
            <a:srgbClr val="FBE8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A9488F-361B-4605-9635-A8A26A5DF0C5}"/>
              </a:ext>
            </a:extLst>
          </p:cNvPr>
          <p:cNvSpPr>
            <a:spLocks noGrp="1"/>
          </p:cNvSpPr>
          <p:nvPr/>
        </p:nvSpPr>
        <p:spPr>
          <a:xfrm>
            <a:off x="838200" y="540068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E61E73"/>
                </a:solidFill>
              </a:defRPr>
            </a:pPr>
            <a:r>
              <a:rPr sz="1275" b="1">
                <a:solidFill>
                  <a:srgbClr val="E61E73"/>
                </a:solidFill>
              </a:rPr>
              <a:t>구성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A48C0E-4C14-4801-BE05-1E324BA828F2}"/>
              </a:ext>
            </a:extLst>
          </p:cNvPr>
          <p:cNvSpPr>
            <a:spLocks noGrp="1"/>
          </p:cNvSpPr>
          <p:nvPr/>
        </p:nvSpPr>
        <p:spPr>
          <a:xfrm>
            <a:off x="1638300" y="537210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3242D"/>
                </a:solidFill>
              </a:defRPr>
            </a:pPr>
            <a:r>
              <a:rPr sz="1500" b="1">
                <a:solidFill>
                  <a:srgbClr val="33242D"/>
                </a:solidFill>
              </a:rPr>
              <a:t>헤드기어 전용 선반 1개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6D9462-1D15-495F-89BB-D86D5C7EB81E}"/>
              </a:ext>
            </a:extLst>
          </p:cNvPr>
          <p:cNvSpPr>
            <a:spLocks noGrp="1"/>
          </p:cNvSpPr>
          <p:nvPr/>
        </p:nvSpPr>
        <p:spPr>
          <a:xfrm>
            <a:off x="4381500" y="537210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E61E73"/>
                </a:solidFill>
              </a:defRPr>
            </a:pPr>
            <a:r>
              <a:rPr sz="1650" b="1">
                <a:solidFill>
                  <a:srgbClr val="E61E73"/>
                </a:solidFill>
              </a:rPr>
              <a:t>+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9CF228-3429-4F47-A0FE-03332DD4D418}"/>
              </a:ext>
            </a:extLst>
          </p:cNvPr>
          <p:cNvSpPr>
            <a:spLocks noGrp="1"/>
          </p:cNvSpPr>
          <p:nvPr/>
        </p:nvSpPr>
        <p:spPr>
          <a:xfrm>
            <a:off x="4819650" y="537210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3242D"/>
                </a:solidFill>
              </a:defRPr>
            </a:pPr>
            <a:r>
              <a:rPr sz="1500" b="1">
                <a:solidFill>
                  <a:srgbClr val="33242D"/>
                </a:solidFill>
              </a:rPr>
              <a:t>머리띠 전용 선반 1개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1E6B1A-A4D1-46E5-8D9B-4DC3EDB49719}"/>
              </a:ext>
            </a:extLst>
          </p:cNvPr>
          <p:cNvSpPr>
            <a:spLocks noGrp="1"/>
          </p:cNvSpPr>
          <p:nvPr/>
        </p:nvSpPr>
        <p:spPr>
          <a:xfrm>
            <a:off x="838200" y="5791205"/>
            <a:ext cx="647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74656D"/>
                </a:solidFill>
              </a:defRPr>
            </a:pPr>
            <a:r>
              <a:rPr sz="1275" b="0" dirty="0" err="1">
                <a:solidFill>
                  <a:srgbClr val="74656D"/>
                </a:solidFill>
              </a:rPr>
              <a:t>기존</a:t>
            </a:r>
            <a:r>
              <a:rPr sz="1275" b="0" dirty="0">
                <a:solidFill>
                  <a:srgbClr val="74656D"/>
                </a:solidFill>
              </a:rPr>
              <a:t> </a:t>
            </a:r>
            <a:r>
              <a:rPr sz="1275" b="0" dirty="0" err="1">
                <a:solidFill>
                  <a:srgbClr val="74656D"/>
                </a:solidFill>
              </a:rPr>
              <a:t>드라이어</a:t>
            </a:r>
            <a:r>
              <a:rPr sz="1275" b="0" dirty="0">
                <a:solidFill>
                  <a:srgbClr val="74656D"/>
                </a:solidFill>
              </a:rPr>
              <a:t> </a:t>
            </a:r>
            <a:r>
              <a:rPr sz="1275" b="0" dirty="0" err="1">
                <a:solidFill>
                  <a:srgbClr val="74656D"/>
                </a:solidFill>
              </a:rPr>
              <a:t>테이블</a:t>
            </a:r>
            <a:r>
              <a:rPr sz="1275" b="0" dirty="0">
                <a:solidFill>
                  <a:srgbClr val="74656D"/>
                </a:solidFill>
              </a:rPr>
              <a:t> 2개 </a:t>
            </a:r>
            <a:r>
              <a:rPr sz="1275" b="0" dirty="0" err="1">
                <a:solidFill>
                  <a:srgbClr val="74656D"/>
                </a:solidFill>
              </a:rPr>
              <a:t>중</a:t>
            </a:r>
            <a:r>
              <a:rPr sz="1275" b="0" dirty="0">
                <a:solidFill>
                  <a:srgbClr val="74656D"/>
                </a:solidFill>
              </a:rPr>
              <a:t> </a:t>
            </a:r>
            <a:r>
              <a:rPr sz="1275" b="0" dirty="0" err="1">
                <a:solidFill>
                  <a:srgbClr val="74656D"/>
                </a:solidFill>
              </a:rPr>
              <a:t>필요한</a:t>
            </a:r>
            <a:r>
              <a:rPr sz="1275" b="0" dirty="0">
                <a:solidFill>
                  <a:srgbClr val="74656D"/>
                </a:solidFill>
              </a:rPr>
              <a:t> </a:t>
            </a:r>
            <a:r>
              <a:rPr lang="ko-KR" altLang="en-US" sz="1275" b="0" dirty="0">
                <a:solidFill>
                  <a:srgbClr val="74656D"/>
                </a:solidFill>
              </a:rPr>
              <a:t>왼쪽 거</a:t>
            </a:r>
            <a:r>
              <a:rPr sz="1275" b="0" dirty="0">
                <a:solidFill>
                  <a:srgbClr val="74656D"/>
                </a:solidFill>
              </a:rPr>
              <a:t> </a:t>
            </a:r>
            <a:r>
              <a:rPr lang="ko-KR" altLang="en-US" sz="1275" b="0" dirty="0">
                <a:solidFill>
                  <a:srgbClr val="74656D"/>
                </a:solidFill>
              </a:rPr>
              <a:t>치우고</a:t>
            </a:r>
            <a:r>
              <a:rPr sz="1275" b="0" dirty="0">
                <a:solidFill>
                  <a:srgbClr val="74656D"/>
                </a:solidFill>
              </a:rPr>
              <a:t>, </a:t>
            </a:r>
            <a:r>
              <a:rPr sz="1275" b="0" dirty="0" err="1">
                <a:solidFill>
                  <a:srgbClr val="74656D"/>
                </a:solidFill>
              </a:rPr>
              <a:t>빈</a:t>
            </a:r>
            <a:r>
              <a:rPr sz="1275" b="0" dirty="0">
                <a:solidFill>
                  <a:srgbClr val="74656D"/>
                </a:solidFill>
              </a:rPr>
              <a:t> </a:t>
            </a:r>
            <a:r>
              <a:rPr sz="1275" b="0" dirty="0" err="1">
                <a:solidFill>
                  <a:srgbClr val="74656D"/>
                </a:solidFill>
              </a:rPr>
              <a:t>공간을</a:t>
            </a:r>
            <a:r>
              <a:rPr sz="1275" b="0" dirty="0">
                <a:solidFill>
                  <a:srgbClr val="74656D"/>
                </a:solidFill>
              </a:rPr>
              <a:t> </a:t>
            </a:r>
            <a:r>
              <a:rPr lang="ko-KR" altLang="en-US" sz="1275" b="0" dirty="0">
                <a:solidFill>
                  <a:srgbClr val="74656D"/>
                </a:solidFill>
              </a:rPr>
              <a:t>예쁜 </a:t>
            </a:r>
            <a:r>
              <a:rPr lang="ko-KR" altLang="en-US" sz="1275" b="0" dirty="0" err="1">
                <a:solidFill>
                  <a:srgbClr val="74656D"/>
                </a:solidFill>
              </a:rPr>
              <a:t>프롭선반으로</a:t>
            </a:r>
            <a:endParaRPr lang="en-AU" altLang="ko-KR" sz="1275" dirty="0">
              <a:solidFill>
                <a:srgbClr val="74656D"/>
              </a:solidFill>
            </a:endParaRPr>
          </a:p>
          <a:p>
            <a:pPr>
              <a:defRPr sz="1275" b="0">
                <a:solidFill>
                  <a:srgbClr val="74656D"/>
                </a:solidFill>
              </a:defRPr>
            </a:pPr>
            <a:r>
              <a:rPr lang="en-AU" altLang="ko-KR" sz="1275" dirty="0">
                <a:solidFill>
                  <a:srgbClr val="74656D"/>
                </a:solidFill>
              </a:rPr>
              <a:t>				</a:t>
            </a:r>
            <a:r>
              <a:rPr lang="en-AU" sz="1275" dirty="0"/>
              <a:t>→</a:t>
            </a:r>
            <a:r>
              <a:rPr lang="ko-KR" altLang="en-US" sz="1275" dirty="0"/>
              <a:t> 하나는 헤드기어</a:t>
            </a:r>
            <a:r>
              <a:rPr lang="en-US" altLang="ko-KR" sz="1275" dirty="0"/>
              <a:t>,</a:t>
            </a:r>
            <a:r>
              <a:rPr lang="ko-KR" altLang="en-US" sz="1275" dirty="0"/>
              <a:t> 하나는 머리띠</a:t>
            </a:r>
            <a:endParaRPr lang="en-AU" altLang="ko-KR" sz="1275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A12ACC6-2A4D-4687-810A-4086C8F5C0B4}"/>
              </a:ext>
            </a:extLst>
          </p:cNvPr>
          <p:cNvSpPr>
            <a:spLocks noGrp="1"/>
          </p:cNvSpPr>
          <p:nvPr/>
        </p:nvSpPr>
        <p:spPr>
          <a:xfrm>
            <a:off x="7981950" y="5200655"/>
            <a:ext cx="3600450" cy="1047750"/>
          </a:xfrm>
          <a:prstGeom prst="roundRect">
            <a:avLst>
              <a:gd name="adj" fmla="val 18182"/>
            </a:avLst>
          </a:prstGeom>
          <a:solidFill>
            <a:srgbClr val="E61E7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3122E6-BB93-4A12-B91E-3CBDE492FD38}"/>
              </a:ext>
            </a:extLst>
          </p:cNvPr>
          <p:cNvSpPr>
            <a:spLocks noGrp="1"/>
          </p:cNvSpPr>
          <p:nvPr/>
        </p:nvSpPr>
        <p:spPr>
          <a:xfrm>
            <a:off x="8210550" y="537210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약 1.5배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13B75E-C1A2-4779-A6D1-4A502E3F4848}"/>
              </a:ext>
            </a:extLst>
          </p:cNvPr>
          <p:cNvSpPr>
            <a:spLocks noGrp="1"/>
          </p:cNvSpPr>
          <p:nvPr/>
        </p:nvSpPr>
        <p:spPr>
          <a:xfrm>
            <a:off x="8210550" y="579120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 dirty="0" err="1">
                <a:solidFill>
                  <a:srgbClr val="FFFFFF"/>
                </a:solidFill>
              </a:rPr>
              <a:t>프롭</a:t>
            </a:r>
            <a:r>
              <a:rPr sz="1275" b="0" dirty="0">
                <a:solidFill>
                  <a:srgbClr val="FFFFFF"/>
                </a:solidFill>
              </a:rPr>
              <a:t> </a:t>
            </a:r>
            <a:r>
              <a:rPr sz="1275" b="0" dirty="0" err="1">
                <a:solidFill>
                  <a:srgbClr val="FFFFFF"/>
                </a:solidFill>
              </a:rPr>
              <a:t>선택지</a:t>
            </a:r>
            <a:r>
              <a:rPr sz="1275" b="0" dirty="0">
                <a:solidFill>
                  <a:srgbClr val="FFFFFF"/>
                </a:solidFill>
              </a:rPr>
              <a:t> </a:t>
            </a:r>
            <a:r>
              <a:rPr lang="ko-KR" altLang="en-US" sz="1275" b="0" dirty="0">
                <a:solidFill>
                  <a:srgbClr val="FFFFFF"/>
                </a:solidFill>
              </a:rPr>
              <a:t>증가</a:t>
            </a:r>
            <a:endParaRPr sz="1275" b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769454-FC77-4304-9419-991F2DA6418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74656D"/>
                </a:solidFill>
              </a:defRPr>
            </a:pPr>
            <a:r>
              <a:rPr sz="1200" b="0">
                <a:solidFill>
                  <a:srgbClr val="74656D"/>
                </a:solidFill>
              </a:rPr>
              <a:t>인생네컷 리모델링 제안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890309-5CEE-4808-AC85-C7369960483D}"/>
              </a:ext>
            </a:extLst>
          </p:cNvPr>
          <p:cNvSpPr>
            <a:spLocks noGrp="1"/>
          </p:cNvSpPr>
          <p:nvPr/>
        </p:nvSpPr>
        <p:spPr>
          <a:xfrm>
            <a:off x="10953750" y="6496050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E61E73"/>
                </a:solidFill>
              </a:defRPr>
            </a:pPr>
            <a:r>
              <a:rPr sz="1200" b="1">
                <a:solidFill>
                  <a:srgbClr val="E61E73"/>
                </a:solidFill>
              </a:rPr>
              <a:t>06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BB9A721-3091-43E2-AAD6-F2F3D5E13EE1}"/>
              </a:ext>
            </a:extLst>
          </p:cNvPr>
          <p:cNvSpPr>
            <a:spLocks noGrp="1"/>
          </p:cNvSpPr>
          <p:nvPr/>
        </p:nvSpPr>
        <p:spPr>
          <a:xfrm>
            <a:off x="6419850" y="1733550"/>
            <a:ext cx="1028700" cy="323850"/>
          </a:xfrm>
          <a:prstGeom prst="roundRect">
            <a:avLst>
              <a:gd name="adj" fmla="val 50000"/>
            </a:avLst>
          </a:prstGeom>
          <a:solidFill>
            <a:srgbClr val="E61E7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425B5E-9862-31B9-4AB5-23D0582458F6}"/>
              </a:ext>
            </a:extLst>
          </p:cNvPr>
          <p:cNvSpPr>
            <a:spLocks noGrp="1"/>
          </p:cNvSpPr>
          <p:nvPr/>
        </p:nvSpPr>
        <p:spPr>
          <a:xfrm>
            <a:off x="6496050" y="178117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제안 방향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59167D-8FAF-BB84-9D77-A0A76954BB1C}"/>
              </a:ext>
            </a:extLst>
          </p:cNvPr>
          <p:cNvSpPr>
            <a:spLocks noGrp="1"/>
          </p:cNvSpPr>
          <p:nvPr/>
        </p:nvSpPr>
        <p:spPr>
          <a:xfrm>
            <a:off x="7705725" y="6096000"/>
            <a:ext cx="3028951" cy="8810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74656D"/>
                </a:solidFill>
              </a:defRPr>
            </a:pPr>
            <a:endParaRPr lang="en-AU" altLang="ko-KR" sz="1275" b="0" dirty="0">
              <a:solidFill>
                <a:srgbClr val="74656D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417F12-A967-C92C-8849-DD69CF4498D4}"/>
              </a:ext>
            </a:extLst>
          </p:cNvPr>
          <p:cNvSpPr txBox="1"/>
          <p:nvPr/>
        </p:nvSpPr>
        <p:spPr>
          <a:xfrm>
            <a:off x="2924174" y="4861215"/>
            <a:ext cx="7410451" cy="288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75" b="0">
                <a:solidFill>
                  <a:srgbClr val="74656D"/>
                </a:solidFill>
              </a:defRPr>
            </a:pPr>
            <a:r>
              <a:rPr lang="ko-KR" altLang="en-US" sz="1275" dirty="0">
                <a:solidFill>
                  <a:srgbClr val="74656D"/>
                </a:solidFill>
              </a:rPr>
              <a:t>거울은 더 크게  </a:t>
            </a:r>
            <a:r>
              <a:rPr lang="en-AU" sz="1275" dirty="0">
                <a:solidFill>
                  <a:srgbClr val="74656D"/>
                </a:solidFill>
              </a:rPr>
              <a:t>LED </a:t>
            </a:r>
            <a:r>
              <a:rPr lang="ko-KR" altLang="en-US" sz="1275" dirty="0" err="1">
                <a:solidFill>
                  <a:srgbClr val="74656D"/>
                </a:solidFill>
              </a:rPr>
              <a:t>엣지조명</a:t>
            </a:r>
            <a:r>
              <a:rPr lang="ko-KR" altLang="en-US" sz="1275" dirty="0">
                <a:solidFill>
                  <a:srgbClr val="74656D"/>
                </a:solidFill>
              </a:rPr>
              <a:t> 더 달아서 밖에서 봤을 때  더 화사하고 </a:t>
            </a:r>
            <a:r>
              <a:rPr lang="ko-KR" altLang="en-US" sz="1275" dirty="0" err="1">
                <a:solidFill>
                  <a:srgbClr val="74656D"/>
                </a:solidFill>
              </a:rPr>
              <a:t>밝은느낌으로</a:t>
            </a:r>
            <a:r>
              <a:rPr lang="ko-KR" altLang="en-US" sz="1275" dirty="0">
                <a:solidFill>
                  <a:srgbClr val="74656D"/>
                </a:solidFill>
              </a:rPr>
              <a:t> </a:t>
            </a:r>
            <a:r>
              <a:rPr lang="ko-KR" altLang="en-US" sz="1275" dirty="0" err="1">
                <a:solidFill>
                  <a:srgbClr val="74656D"/>
                </a:solidFill>
              </a:rPr>
              <a:t>들어오고싶게</a:t>
            </a:r>
            <a:endParaRPr lang="en-AU" altLang="ko-KR" sz="1275" dirty="0">
              <a:solidFill>
                <a:srgbClr val="7465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048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201</Words>
  <Application>Microsoft Macintosh PowerPoint</Application>
  <DocSecurity>0</DocSecurity>
  <PresentationFormat>Widescreen</PresentationFormat>
  <Paragraphs>46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황인성(2018212046)</cp:lastModifiedBy>
  <cp:revision>2</cp:revision>
  <dcterms:created xsi:type="dcterms:W3CDTF">2026-07-15T11:55:03Z</dcterms:created>
  <dcterms:modified xsi:type="dcterms:W3CDTF">2026-07-15T12:54:56Z</dcterms:modified>
</cp:coreProperties>
</file>